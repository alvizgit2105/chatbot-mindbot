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58" r:id="rId6"/>
    <p:sldId id="295" r:id="rId7"/>
    <p:sldId id="296" r:id="rId8"/>
    <p:sldId id="297" r:id="rId9"/>
    <p:sldId id="303" r:id="rId10"/>
    <p:sldId id="309" r:id="rId11"/>
    <p:sldId id="310" r:id="rId12"/>
    <p:sldId id="311" r:id="rId13"/>
    <p:sldId id="312" r:id="rId14"/>
    <p:sldId id="304" r:id="rId15"/>
    <p:sldId id="305" r:id="rId16"/>
    <p:sldId id="306" r:id="rId17"/>
    <p:sldId id="307" r:id="rId18"/>
    <p:sldId id="298" r:id="rId19"/>
    <p:sldId id="302" r:id="rId20"/>
    <p:sldId id="308" r:id="rId21"/>
    <p:sldId id="299" r:id="rId22"/>
    <p:sldId id="300" r:id="rId23"/>
    <p:sldId id="301" r:id="rId24"/>
    <p:sldId id="293" r:id="rId25"/>
    <p:sldId id="294" r:id="rId26"/>
    <p:sldId id="269" r:id="rId27"/>
    <p:sldId id="290" r:id="rId28"/>
    <p:sldId id="282" r:id="rId29"/>
    <p:sldId id="287" r:id="rId30"/>
    <p:sldId id="292" r:id="rId31"/>
    <p:sldId id="314" r:id="rId32"/>
    <p:sldId id="315" r:id="rId33"/>
    <p:sldId id="291" r:id="rId34"/>
    <p:sldId id="289" r:id="rId35"/>
    <p:sldId id="2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4F7"/>
    <a:srgbClr val="18D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338F-05A8-11C6-E275-8CD878BA4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A440C-4FBE-4EA4-02FF-036AEB568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140E-8964-E55C-BCA0-C59EC0D7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089C7-A09C-4857-8844-2A23508B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58723-E98F-0AC8-C4CC-837946CA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86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5E91-6950-433F-F285-4FC88541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0775-9F5F-2A2C-7C54-E4E671FD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D629-39C1-3AC9-F033-9A9710D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2B6A-6A4D-8D72-99EB-9770F5EF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C528-BCDD-791F-EF43-7004F782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055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7DA8-A922-C5B9-2678-8FF1BC99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105AE-5DA7-5062-51EC-1389FACC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E5C74-A352-12B1-03C4-9E4A427E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2488-926D-73BF-E036-D2EDE45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94252-A2B3-CAEB-C46A-B83E910E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991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32CF-913E-4554-4DDA-2C0D3A09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5A9C-A303-21A2-4303-BA41C649F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BDD6B-238F-CC5D-87E9-9EB2D92F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A5458-7EBF-4EEF-4DFB-A0BB2E42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2E32A-3D8F-3675-A277-4E19AB75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E81B4-DBB1-68DD-55A7-4EB90BBA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485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36EE-B3E8-B599-91F5-9828E6A3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48FAA-47FC-95A5-AF36-E99DADB33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B184F-4F1E-0FDD-DDE8-0E121911F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89E98-209E-E0A7-BE0A-232DA4A0C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82AE3-9A60-7E93-B218-5B6095691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0EC89-59A5-29DF-D3C5-5B6712CC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4F2DB-A719-40BC-C42B-BBFAF489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5FBE2-1824-450D-7A15-86F30ACC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603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F882-F9A2-69C1-68E5-73695C58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E90E3-7E53-915F-ED3E-693AB03C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78167-5A39-3ED1-F12A-FE7A249E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B32B9-3DC8-A4FD-D8B7-6BA4A3DB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781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959A8-CE81-FEF6-E455-50D01F4E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6B9D1-4F4B-9AE3-D78E-F34A902D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72387-9028-4F46-8BB7-51D8F699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311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C687-07D6-8EB3-1033-DD21C700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D561-1F05-CC1A-4218-3085F8C6E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2FF1E-6C6F-8085-F018-DB908300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7D69-C949-B1CF-5543-241D0DD2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8E6-B075-9799-801E-CC520A4B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37437-064B-75A5-B45F-DD14DDB8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368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880B-7B00-FB46-133A-B9017992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0FF7C-CC08-3A61-D011-1E44A270E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75771-F556-9148-4798-B202E4CA6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DFC87-DC7D-37B2-A119-591A8DAC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9A99F-6DBA-2FE6-09A1-F42E5C4D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11057-6373-9492-D9E4-546BE855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523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AAF0-48A4-6F51-71E2-E796950B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FEA20-9551-E572-89E2-C2D5BF814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3627-C97C-68F4-E83D-CD98A6CE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2FB3A-1B7D-0CE7-CEF5-AD9C8378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E0C0B-FAB2-0FE6-D3A6-380DBD0A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540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5A506-F862-5314-006D-4259EBDA4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C3BF2-081F-CAAF-3655-8E757838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EED2B-3565-8918-D24B-A57A2C60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B6DF5-1FE7-4B7F-7009-BBC141CC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58DA7-D501-E76D-B113-4C033176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776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D1E19-E283-571A-350E-1C1326C4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E34B5-A9AF-1665-E02B-7BD112C7C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E4CEB-0BB6-3B66-078D-CEC08A4FD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7805B-506A-4EF9-B0B2-B62AD2003A1B}" type="datetimeFigureOut">
              <a:rPr lang="en-PH" smtClean="0"/>
              <a:t>04/08/2025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7F1E-2DE3-D087-4187-A65DCC729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60084-0127-C1D4-B78E-674B7F3FD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BA851-27F9-4B2A-9197-6F3CEF8D83C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811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lexity-analysis-of-algorithm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C4DA15-2641-6EDB-5F66-86964147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5DBEB14A-D3F1-FED2-81EA-A66D4E8FBA79}"/>
              </a:ext>
            </a:extLst>
          </p:cNvPr>
          <p:cNvSpPr/>
          <p:nvPr/>
        </p:nvSpPr>
        <p:spPr>
          <a:xfrm>
            <a:off x="625185" y="2036618"/>
            <a:ext cx="11107883" cy="1974273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ALGORITHMS AND COMPLEXITY</a:t>
            </a:r>
            <a:endParaRPr lang="en-PH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526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F93B-055E-70F0-F30B-EC3018FA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9812C8-053A-8F7B-9B92-DE754D6B4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C8A9E4-F08C-15A3-ED79-105FA5DD75C2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OBJECTIVES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8636A3-869E-7BE8-397A-3A5B0E3947D8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By the end of this chapter, students will be able to: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Define what an algorithm is and explain its key characteristics.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Describe the concept of computational complexity and its significance.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Understand the importance of algorithm efficiency in solving problems.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80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8DF8-63E2-A17A-C7B8-051CB6B9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437C44-FEF3-414E-4FBA-01EEFB0B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F5B634-D739-C5ED-B13B-F580AE7D0BA1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TOPICS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0BDF09-1512-D0AC-72BD-4C41428C77DB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Definition and Characteristics of Algorithms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History and Evolution of Algorithms</a:t>
            </a:r>
          </a:p>
          <a:p>
            <a:pPr marL="514350" indent="-514350">
              <a:buAutoNum type="arabicPeriod"/>
            </a:pPr>
            <a:r>
              <a:rPr lang="en-PH" sz="2800" dirty="0">
                <a:solidFill>
                  <a:schemeClr val="tx1"/>
                </a:solidFill>
              </a:rPr>
              <a:t>Types of Algorithms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The Role of Algorithms in Problem Solving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Basic Algorithm Design Techniques (Overview Only)</a:t>
            </a:r>
          </a:p>
          <a:p>
            <a:pPr marL="514350" indent="-514350">
              <a:buAutoNum type="arabicPeriod"/>
            </a:pPr>
            <a:r>
              <a:rPr lang="en-PH" sz="2800" dirty="0">
                <a:solidFill>
                  <a:schemeClr val="tx1"/>
                </a:solidFill>
              </a:rPr>
              <a:t>Understanding Computational Problems</a:t>
            </a:r>
          </a:p>
          <a:p>
            <a:pPr marL="514350" indent="-514350">
              <a:buAutoNum type="arabicPeriod"/>
            </a:pPr>
            <a:r>
              <a:rPr lang="en-PH" sz="2800" dirty="0">
                <a:solidFill>
                  <a:schemeClr val="tx1"/>
                </a:solidFill>
              </a:rPr>
              <a:t>Algorithm Efficiency and Performance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5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B1C6-92A9-B78B-627A-12852EA3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F9DDD-53D9-C97C-7556-BEF84D8E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5F19ED-FD53-1E96-5F87-EEA39BF6DAC2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TOPICS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408D3B-B8EE-BFD8-04BB-CD65D2689D0E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8. </a:t>
            </a:r>
            <a:r>
              <a:rPr lang="en-PH" sz="2800" dirty="0">
                <a:solidFill>
                  <a:schemeClr val="tx1"/>
                </a:solidFill>
              </a:rPr>
              <a:t>Introduction to Complexity Theory</a:t>
            </a:r>
          </a:p>
          <a:p>
            <a:r>
              <a:rPr lang="en-PH" sz="2800" dirty="0">
                <a:solidFill>
                  <a:schemeClr val="tx1"/>
                </a:solidFill>
              </a:rPr>
              <a:t>9. Asymptotic Analysis Overview</a:t>
            </a:r>
          </a:p>
          <a:p>
            <a:r>
              <a:rPr lang="en-PH" sz="2800" dirty="0">
                <a:solidFill>
                  <a:schemeClr val="tx1"/>
                </a:solidFill>
              </a:rPr>
              <a:t>10. </a:t>
            </a:r>
            <a:r>
              <a:rPr lang="en-US" sz="2800" dirty="0">
                <a:solidFill>
                  <a:schemeClr val="tx1"/>
                </a:solidFill>
              </a:rPr>
              <a:t>Classifications of Problems Based on Complexity</a:t>
            </a:r>
          </a:p>
          <a:p>
            <a:r>
              <a:rPr lang="en-PH" sz="2800" dirty="0">
                <a:solidFill>
                  <a:schemeClr val="tx1"/>
                </a:solidFill>
              </a:rPr>
              <a:t>11. </a:t>
            </a:r>
            <a:r>
              <a:rPr lang="en-US" sz="2800" dirty="0">
                <a:solidFill>
                  <a:schemeClr val="tx1"/>
                </a:solidFill>
              </a:rPr>
              <a:t>Importance of Studying Algorithms and Complexity</a:t>
            </a:r>
          </a:p>
          <a:p>
            <a:r>
              <a:rPr lang="en-US" sz="2800" dirty="0">
                <a:solidFill>
                  <a:schemeClr val="tx1"/>
                </a:solidFill>
              </a:rPr>
              <a:t>12. Tools for Algorithm Development and Analysis</a:t>
            </a:r>
          </a:p>
          <a:p>
            <a:r>
              <a:rPr lang="en-PH" sz="2800" dirty="0">
                <a:solidFill>
                  <a:schemeClr val="tx1"/>
                </a:solidFill>
              </a:rPr>
              <a:t>13. Common Misconceptions and Pitfalls</a:t>
            </a:r>
          </a:p>
        </p:txBody>
      </p:sp>
    </p:spTree>
    <p:extLst>
      <p:ext uri="{BB962C8B-B14F-4D97-AF65-F5344CB8AC3E}">
        <p14:creationId xmlns:p14="http://schemas.microsoft.com/office/powerpoint/2010/main" val="424146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D9FB-D699-97A1-B778-44F02B85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F420D2-2412-4B75-2532-7FCC3D0C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425EAA-0C9F-E9BA-0EFB-DAA1F77450A8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and Evolution of Algorithms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5946D2-CC9C-0767-2BFB-0E3276179DDB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The word algorithm originates from the name of Persian mathematician Al-Khwarizmi, who wrote a book in the 9th century that introduced systematic steps for solving arithmetic problems.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50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6759-7028-D51D-6356-9ECC16EB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75CE4-F18A-80E7-63DB-744FD3F3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B55CBB-4AFA-ED0E-83AC-37B041548A54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and Evolution of Algorithms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0CA22-A663-5600-C5F5-1E3437A61A7C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Ancient Origins: Euclidean algorithm (c. 300 BCE) for </a:t>
            </a:r>
            <a:r>
              <a:rPr lang="en-US" sz="2800" dirty="0" err="1">
                <a:solidFill>
                  <a:schemeClr val="tx1"/>
                </a:solidFill>
              </a:rPr>
              <a:t>GCDAl</a:t>
            </a:r>
            <a:r>
              <a:rPr lang="en-US" sz="2800" dirty="0">
                <a:solidFill>
                  <a:schemeClr val="tx1"/>
                </a:solidFill>
              </a:rPr>
              <a:t>-Khwarizmi’s arithmetic methods (820 AD)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Medieval to Renaissance: Development of symbolic notation and logic.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08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8203-7804-8449-B67B-EEEE89553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AC882-6C82-FC08-639A-9820BADB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C41612-87F2-85D8-303B-090409E3F0D1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History and Evolution of Algorithms</a:t>
            </a:r>
            <a:endParaRPr lang="en-US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DA92AE-ECD2-B217-A554-334656F0FC95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20th Century: Alan Turing introduced the Turing Machin e (1936)—a theoretical model of computation, laying the foundation for modern computing.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Modern Era: With the advent of computers, algorithms now power AI, social media, search engines, finance, and healthcare.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65CB-97F7-CF95-8932-9ADC822A5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705509-1B2D-E912-9E54-E62D380E1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C3B35E-2CE1-22A1-D67B-4A6267091C4B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A5C3C-9CA0-ECCC-E052-AE27FBA30FB4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</a:t>
            </a:r>
            <a:endParaRPr lang="en-PH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F14E7D-27D2-71A2-0120-297F0651E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370973"/>
              </p:ext>
            </p:extLst>
          </p:nvPr>
        </p:nvGraphicFramePr>
        <p:xfrm>
          <a:off x="4831772" y="1870364"/>
          <a:ext cx="6743701" cy="450718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37855">
                  <a:extLst>
                    <a:ext uri="{9D8B030D-6E8A-4147-A177-3AD203B41FA5}">
                      <a16:colId xmlns:a16="http://schemas.microsoft.com/office/drawing/2014/main" val="3702128172"/>
                    </a:ext>
                  </a:extLst>
                </a:gridCol>
                <a:gridCol w="2452255">
                  <a:extLst>
                    <a:ext uri="{9D8B030D-6E8A-4147-A177-3AD203B41FA5}">
                      <a16:colId xmlns:a16="http://schemas.microsoft.com/office/drawing/2014/main" val="3813312817"/>
                    </a:ext>
                  </a:extLst>
                </a:gridCol>
                <a:gridCol w="2753591">
                  <a:extLst>
                    <a:ext uri="{9D8B030D-6E8A-4147-A177-3AD203B41FA5}">
                      <a16:colId xmlns:a16="http://schemas.microsoft.com/office/drawing/2014/main" val="671471173"/>
                    </a:ext>
                  </a:extLst>
                </a:gridCol>
              </a:tblGrid>
              <a:tr h="601703"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Era</a:t>
                      </a:r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Key Algorithm or Concept</a:t>
                      </a:r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Example Use Today</a:t>
                      </a:r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748879"/>
                  </a:ext>
                </a:extLst>
              </a:tr>
              <a:tr h="1067793"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Ancient Origins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Euclidean GCD, Al-Khwarizmi’s Algebra</a:t>
                      </a:r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RSA encryption, solving equations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87871"/>
                  </a:ext>
                </a:extLst>
              </a:tr>
              <a:tr h="1067793"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Medieval–Renaissance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Symbolic logic, Boolean algebra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Programming, circuit design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0602"/>
                  </a:ext>
                </a:extLst>
              </a:tr>
              <a:tr h="702102"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20th Century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Turing Machine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Theory of computation, operating systems</a:t>
                      </a:r>
                      <a:endParaRPr lang="en-US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152998"/>
                  </a:ext>
                </a:extLst>
              </a:tr>
              <a:tr h="1067793">
                <a:tc>
                  <a:txBody>
                    <a:bodyPr/>
                    <a:lstStyle/>
                    <a:p>
                      <a:pPr algn="ctr" fontAlgn="b"/>
                      <a:r>
                        <a:rPr lang="en-PH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Modern Era</a:t>
                      </a:r>
                    </a:p>
                    <a:p>
                      <a:pPr algn="ctr" fontAlgn="b"/>
                      <a:endParaRPr lang="en-PH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AI, Search Algorithms, Fintech, MedTech</a:t>
                      </a:r>
                    </a:p>
                    <a:p>
                      <a:pPr algn="ctr" fontAlgn="b"/>
                      <a:endParaRPr lang="en-US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ChatGPT, Google, Stock Trading, Disease Diagnosis</a:t>
                      </a:r>
                    </a:p>
                    <a:p>
                      <a:pPr algn="ctr" fontAlgn="b"/>
                      <a:endParaRPr lang="en-US" sz="18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84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3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1464-B981-9155-EF38-501D9751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16A41E-E624-69AC-0006-7F95754A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15F2B0-9036-425D-AFF8-7F2AED7C16D1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Types of Algorithms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EC9978-D353-AF9A-E78D-B91F887DAA92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</a:t>
            </a:r>
            <a:endParaRPr lang="en-PH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A4DD37-0C6E-0C38-3BC1-F5D17262D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899366"/>
              </p:ext>
            </p:extLst>
          </p:nvPr>
        </p:nvGraphicFramePr>
        <p:xfrm>
          <a:off x="4821381" y="2374438"/>
          <a:ext cx="6670964" cy="33664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64478">
                  <a:extLst>
                    <a:ext uri="{9D8B030D-6E8A-4147-A177-3AD203B41FA5}">
                      <a16:colId xmlns:a16="http://schemas.microsoft.com/office/drawing/2014/main" val="2182065935"/>
                    </a:ext>
                  </a:extLst>
                </a:gridCol>
                <a:gridCol w="4906486">
                  <a:extLst>
                    <a:ext uri="{9D8B030D-6E8A-4147-A177-3AD203B41FA5}">
                      <a16:colId xmlns:a16="http://schemas.microsoft.com/office/drawing/2014/main" val="2686192915"/>
                    </a:ext>
                  </a:extLst>
                </a:gridCol>
              </a:tblGrid>
              <a:tr h="409864">
                <a:tc>
                  <a:txBody>
                    <a:bodyPr/>
                    <a:lstStyle/>
                    <a:p>
                      <a:pPr algn="ctr" fontAlgn="b"/>
                      <a:r>
                        <a:rPr lang="en-PH" sz="2400" b="1" u="none" strike="noStrike" dirty="0">
                          <a:effectLst/>
                        </a:rPr>
                        <a:t>Type</a:t>
                      </a:r>
                      <a:endParaRPr lang="en-PH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2400" b="1" u="none" strike="noStrike" dirty="0">
                          <a:effectLst/>
                        </a:rPr>
                        <a:t>Description</a:t>
                      </a:r>
                      <a:endParaRPr lang="en-PH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481829"/>
                  </a:ext>
                </a:extLst>
              </a:tr>
              <a:tr h="409864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Brute Force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Tries all possibilities (e.g., password cracking)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8709"/>
                  </a:ext>
                </a:extLst>
              </a:tr>
              <a:tr h="409864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Greedy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Makes the locally optimal choice at each step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06621"/>
                  </a:ext>
                </a:extLst>
              </a:tr>
              <a:tr h="409864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Divide and Conquer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Breaks problem into smaller sub-problems (e.g., Merge Sort)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02408"/>
                  </a:ext>
                </a:extLst>
              </a:tr>
              <a:tr h="409864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Dynamic Programming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Remembers past solutions to avoid repetition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89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17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E5E5-3CF4-A137-51ED-2BA4329A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5AC56-9903-4F46-E522-55757EC1A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37E266-1853-26ED-8478-835DB636938B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Types of Algorithms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AB61CA-11B4-FC72-DB45-CD61AEB595C0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</a:t>
            </a:r>
            <a:endParaRPr lang="en-PH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BBC8D6-2A79-20D4-3029-1487B8220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4943"/>
              </p:ext>
            </p:extLst>
          </p:nvPr>
        </p:nvGraphicFramePr>
        <p:xfrm>
          <a:off x="4821381" y="2067790"/>
          <a:ext cx="6670964" cy="371994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64478">
                  <a:extLst>
                    <a:ext uri="{9D8B030D-6E8A-4147-A177-3AD203B41FA5}">
                      <a16:colId xmlns:a16="http://schemas.microsoft.com/office/drawing/2014/main" val="2182065935"/>
                    </a:ext>
                  </a:extLst>
                </a:gridCol>
                <a:gridCol w="4906486">
                  <a:extLst>
                    <a:ext uri="{9D8B030D-6E8A-4147-A177-3AD203B41FA5}">
                      <a16:colId xmlns:a16="http://schemas.microsoft.com/office/drawing/2014/main" val="2686192915"/>
                    </a:ext>
                  </a:extLst>
                </a:gridCol>
              </a:tblGrid>
              <a:tr h="563052">
                <a:tc>
                  <a:txBody>
                    <a:bodyPr/>
                    <a:lstStyle/>
                    <a:p>
                      <a:pPr algn="ctr" fontAlgn="b"/>
                      <a:r>
                        <a:rPr lang="en-PH" sz="2400" b="1" u="none" strike="noStrike" dirty="0">
                          <a:effectLst/>
                        </a:rPr>
                        <a:t>Type</a:t>
                      </a:r>
                      <a:endParaRPr lang="en-PH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2400" b="1" u="none" strike="noStrike" dirty="0">
                          <a:effectLst/>
                        </a:rPr>
                        <a:t>Description</a:t>
                      </a:r>
                      <a:endParaRPr lang="en-PH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481829"/>
                  </a:ext>
                </a:extLst>
              </a:tr>
              <a:tr h="1015395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Backtracking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Explores all paths but abandons when a solution becomes invalid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370327"/>
                  </a:ext>
                </a:extLst>
              </a:tr>
              <a:tr h="563052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Recursive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Function calls itself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311252"/>
                  </a:ext>
                </a:extLst>
              </a:tr>
              <a:tr h="563052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Iterative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Uses loops instead of recursion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24316"/>
                  </a:ext>
                </a:extLst>
              </a:tr>
              <a:tr h="1015395">
                <a:tc>
                  <a:txBody>
                    <a:bodyPr/>
                    <a:lstStyle/>
                    <a:p>
                      <a:pPr algn="l" fontAlgn="b"/>
                      <a:r>
                        <a:rPr lang="en-PH" sz="2400" u="none" strike="noStrike" dirty="0">
                          <a:effectLst/>
                        </a:rPr>
                        <a:t>Randomized</a:t>
                      </a:r>
                      <a:endParaRPr lang="en-PH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Introduces randomness for simplicity or efficiency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1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24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82B9-B7FB-D900-AB08-EF9FE0B6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09DFF3-76F1-CC1C-6BCF-E77D22BF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0C19E2-1A50-5871-1AA2-19B2E47E4F0E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Role of Algorithms in Problem Solving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F253CA-8B82-7A7F-F2C7-3800A8EBFF3A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Algorithms offer a structured way to solve computational, mathematical, or real-world problems. 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	They transform complex issues into manageable tasks. They: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Improve decision-making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Automate repetitive tasks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Optimize systems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6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D199-DA7F-8A9D-1095-76D11E5F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FD350D-3024-8B91-2D6E-F1CA28C4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35BDD9-9673-0704-8561-C9FA7237ED5F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Basic Algorithm Design Techniques 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C29AD7-7A37-3264-8072-DCA4049BA8A2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</a:t>
            </a:r>
            <a:endParaRPr lang="en-PH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97B019-9AD8-61E3-A3A9-673A21C32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680156"/>
              </p:ext>
            </p:extLst>
          </p:nvPr>
        </p:nvGraphicFramePr>
        <p:xfrm>
          <a:off x="4790209" y="1963882"/>
          <a:ext cx="6764482" cy="41044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25655">
                  <a:extLst>
                    <a:ext uri="{9D8B030D-6E8A-4147-A177-3AD203B41FA5}">
                      <a16:colId xmlns:a16="http://schemas.microsoft.com/office/drawing/2014/main" val="540875516"/>
                    </a:ext>
                  </a:extLst>
                </a:gridCol>
                <a:gridCol w="2968463">
                  <a:extLst>
                    <a:ext uri="{9D8B030D-6E8A-4147-A177-3AD203B41FA5}">
                      <a16:colId xmlns:a16="http://schemas.microsoft.com/office/drawing/2014/main" val="1119871363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910835786"/>
                    </a:ext>
                  </a:extLst>
                </a:gridCol>
              </a:tblGrid>
              <a:tr h="346719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Technique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Description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Example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63A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281465"/>
                  </a:ext>
                </a:extLst>
              </a:tr>
              <a:tr h="684068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Divide and Conquer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Break problem into smaller pieces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Merge Sort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61716"/>
                  </a:ext>
                </a:extLst>
              </a:tr>
              <a:tr h="684068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Greedy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Pick best option at each step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Huffman Coding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843424"/>
                  </a:ext>
                </a:extLst>
              </a:tr>
              <a:tr h="684068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Dynamic Programming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Store results of subproblems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Fibonacci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3166"/>
                  </a:ext>
                </a:extLst>
              </a:tr>
              <a:tr h="684068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Backtracking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Explore possible solutions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Sudoku solver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406499"/>
                  </a:ext>
                </a:extLst>
              </a:tr>
              <a:tr h="1021417"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Recursion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Solve problem by solving smaller instances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000" u="none" strike="noStrike" dirty="0">
                          <a:effectLst/>
                        </a:rPr>
                        <a:t>Factorial</a:t>
                      </a: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816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15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1F21-1BD7-364A-1DAE-47D4D4B0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FE1A00-3757-3960-AC96-044287DE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71D74B-2024-4C2E-1BD0-F88024887E23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Understanding Computational Problems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83B17F-7E01-25DC-CF96-0287BC840E24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Problems solved by computers are typically classified as: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1. Decision Problems: Answer is yes or no.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2. Optimization Problems: Find best solution among many.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916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D7A3-5D05-5F6F-B5B7-5F340C2D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81E890-30AC-9DE3-FC80-9250D648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EBC040-58C6-39AA-2C71-09E1657D5554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Understanding Computational Problems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74500C-B6E4-C559-49DD-E7E795866BD7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3. Search Problems: Find an item or pattern.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4. Classification Problems: Categorize items (e.g., spam filter).</a:t>
            </a:r>
          </a:p>
        </p:txBody>
      </p:sp>
    </p:spTree>
    <p:extLst>
      <p:ext uri="{BB962C8B-B14F-4D97-AF65-F5344CB8AC3E}">
        <p14:creationId xmlns:p14="http://schemas.microsoft.com/office/powerpoint/2010/main" val="429209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F1B0-4FD9-0598-C30A-2178F35A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416A68-C53F-BCC1-E4CA-9990F9051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423E34-2ABD-D2D1-52FD-C14BEC24E07D}"/>
              </a:ext>
            </a:extLst>
          </p:cNvPr>
          <p:cNvSpPr/>
          <p:nvPr/>
        </p:nvSpPr>
        <p:spPr>
          <a:xfrm>
            <a:off x="4436917" y="95423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These problems can be: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1. Tractable (solvable in polynomial time)</a:t>
            </a:r>
          </a:p>
          <a:p>
            <a:r>
              <a:rPr lang="en-US" sz="2800" dirty="0">
                <a:solidFill>
                  <a:schemeClr val="tx1"/>
                </a:solidFill>
              </a:rPr>
              <a:t>2. Intractable (unsolvable or exponential time)</a:t>
            </a:r>
          </a:p>
          <a:p>
            <a:r>
              <a:rPr lang="en-US" sz="2800" dirty="0">
                <a:solidFill>
                  <a:schemeClr val="tx1"/>
                </a:solidFill>
              </a:rPr>
              <a:t>3. Undecidable (no algorithm exists to solve them all)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6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FDAC-4E4E-9B8A-F0A1-5D6DE934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63C51C-D42B-E144-D25A-E2CAD9EC5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47C859-CE1C-7553-5E7A-9E1CCCE1B138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76A31E-C659-5C82-2FEE-026105245314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1. Scheduling multiple tasks without conflict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2. Classification problems in spam detection and sentiment analysis.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73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903A-4DAC-F36F-D878-03C7F2D6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E4E70A-EA7C-BCCD-7813-2399A7F7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EAB5D1-8DB5-456E-3542-4E0AF1A8797D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Algorithm Efficiency and Performance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7DD04B-D07A-94D7-E1F8-B0A71BF21BF7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Algorithm efficiency is measured using Time Complexity and Space Complexity. It shows how performance scales with input size.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94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EF3C4-DDBD-7B1B-543A-6379CE10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0D756-F696-FD43-8C62-DA9C449F2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0E63F-276E-238A-A2B1-C3DD51F1B1F2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There are two primary metrics used to evaluate algorithm efficiency: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719DA7-A8AC-959A-0A8C-BA68354B260A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Time Complexity – how much time an algorithm takes to complete.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Space Complexity – how much memory (space) an algorithm uses.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	These are measured using Big-O notation, which describes the worst-case or upper bound of resource usage in terms of input size (usually represented by n).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5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E7B51-2D12-8341-0DED-47AD2A00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74B7F3-D5DF-9ACC-AE51-1F5705065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557D2C-8164-7536-CDF8-60D0E8F67BCC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0F5642-D221-7BB5-F42D-E616081982BC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	refers to the amount of time an algorithm takes to complete based on the size of its input.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596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BBFF-7E99-E64D-67DE-29BAB7DC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7E763F-5F0B-6D86-0349-DB91E57A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FDD210-4DEB-B907-5977-B96D91A7BB47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Activity 1: Question and answer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5048D1-F850-F66A-0709-4D4206D749A0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>
                <a:solidFill>
                  <a:schemeClr val="tx1"/>
                </a:solidFill>
              </a:rPr>
              <a:t>"How does the execution time grow as input grows?"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794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DE00-8B3C-FB4E-415D-237BAB8B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C84D22-10C6-B7FA-11F6-01FABF5F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12B244-8BF8-6366-CE3A-EF0B61FB58FF}"/>
              </a:ext>
            </a:extLst>
          </p:cNvPr>
          <p:cNvSpPr/>
          <p:nvPr/>
        </p:nvSpPr>
        <p:spPr>
          <a:xfrm>
            <a:off x="4488872" y="232064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 of Time Complexity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0B708-FC88-1054-24E5-2B9F6CD20049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Searching in a Dictionary (Binary Search vs. Linear Search)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Binary Search (O(log n)): </a:t>
            </a:r>
            <a:r>
              <a:rPr lang="en-US" sz="2800" dirty="0">
                <a:solidFill>
                  <a:schemeClr val="tx1"/>
                </a:solidFill>
              </a:rPr>
              <a:t>Open a dictionary and look for a word by dividing the pages—fast and efficient.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Linear Search (O(n)): </a:t>
            </a:r>
            <a:r>
              <a:rPr lang="en-US" sz="2800" dirty="0">
                <a:solidFill>
                  <a:schemeClr val="tx1"/>
                </a:solidFill>
              </a:rPr>
              <a:t>Flip through each page one by one until you find the word—takes more time as dictionary size increases.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74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C7055-1AF9-7A96-383D-E01404DE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106078-B3EB-4B0B-5AB2-02261BBE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14240F-C0FA-A01A-F5C9-688CBA2E1AF6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 of Time Complexity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EE9300-9AD7-9BB6-65FB-830E37B08324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Sorting an Email Inbox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Efficient Sort (e.g., Merge Sort – O(n log n)): </a:t>
            </a:r>
            <a:r>
              <a:rPr lang="en-US" sz="2800" dirty="0">
                <a:solidFill>
                  <a:schemeClr val="tx1"/>
                </a:solidFill>
              </a:rPr>
              <a:t>Groups and compares efficiently to sort large numbers of emails.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Inefficient Sort (e.g., Bubble Sort – O(n²)): </a:t>
            </a:r>
            <a:r>
              <a:rPr lang="en-US" sz="2800" dirty="0">
                <a:solidFill>
                  <a:schemeClr val="tx1"/>
                </a:solidFill>
              </a:rPr>
              <a:t>Compares each email with every other one—slows down quickly as inbox size increases.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685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438C-5A85-09A1-07B6-DB02CDCD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D18A7C-9DCC-DA11-3D69-555A136B8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5F4472-A786-239B-6599-4FA5C1F6B5E6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Space Complexity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BCAF01-3200-1BE8-0D16-72F31751A241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complexity refers to the amount of memory an algorithm needs to run to completion, including input, temporary variables, and data structures. 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2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81BB-5995-B9F7-FA2E-FDE5B41F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45F50-2417-86AA-8638-148CD4D0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8DF327-A548-F300-5864-15D965A1E700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Activity 2: Question and answer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8DC608-3333-4725-14E9-C829BD5F09F4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>
                <a:solidFill>
                  <a:schemeClr val="tx1"/>
                </a:solidFill>
              </a:rPr>
              <a:t>"How does memory usage grow with input size?"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96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38CD-2E0B-7F08-5F50-BE0FC2B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4F3178-B765-CFEF-4A4C-D70815FD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540C4E-284C-DCA4-9F47-3450250FD7CB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 of Space Complexity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25B427-3181-06B3-8783-898F37CC37EB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Writing a To-Do List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Writing it on a whiteboard (constant space – O(1)): Just one note at a time, no matter how long the list is.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Writing it on sticky notes for each task (linear space – O(n)): More tasks mean more sticky notes—memory increases with input.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264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9D11-E7DD-5A97-FB9F-3EC31849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F485E8-2FE4-0F8B-AC53-B2280B11F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0658-DD07-21FD-D193-BC1BD42F1C88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D4891A-BE42-8B47-9BC2-F3F17D0D1776}"/>
              </a:ext>
            </a:extLst>
          </p:cNvPr>
          <p:cNvSpPr/>
          <p:nvPr/>
        </p:nvSpPr>
        <p:spPr>
          <a:xfrm>
            <a:off x="4488872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Image Processing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Grayscale Image (less space): Uses fewer bits per pixel (e.g., 1 byte per pixel).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Color Image with filters (more space): Requires multiple layers, filters, and color channels, increasing memory usage significantly.</a:t>
            </a:r>
            <a:endParaRPr lang="en-P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23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F43D-C432-6DA4-4D2D-5630EABC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D76A52-2B61-18E8-4324-7D4308E52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DF647-90F9-90CC-2292-2B3521561A74}"/>
              </a:ext>
            </a:extLst>
          </p:cNvPr>
          <p:cNvSpPr/>
          <p:nvPr/>
        </p:nvSpPr>
        <p:spPr>
          <a:xfrm>
            <a:off x="4416137" y="1028700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Balancing Time and Space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Some algorithms are faster but use more memory. Others use less memory but are slower.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Choosing the best algorithm depends on the context: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Limited memory? Optimize space.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Need faster response? Optimize time.</a:t>
            </a:r>
          </a:p>
        </p:txBody>
      </p:sp>
    </p:spTree>
    <p:extLst>
      <p:ext uri="{BB962C8B-B14F-4D97-AF65-F5344CB8AC3E}">
        <p14:creationId xmlns:p14="http://schemas.microsoft.com/office/powerpoint/2010/main" val="3404352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01BE-4AE1-1CA0-9860-C962EAFD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4903BB-474D-DED4-C7A9-C96E69084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2BF91F-61A7-44F3-36AF-4D011CFA3636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Activity 3: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675FCD-5C4A-5028-5D1B-CFB699AAB276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Videos to watch  for Additional Learning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What is an Algorithm? (Khan Academy)https://www.youtube.com/watch?v=6hfOvs8pY1k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Big-O Notation &amp; Time Complexity (Computerphile)https://www.youtube.com/watch?v=V6mKVRU1evU</a:t>
            </a:r>
          </a:p>
        </p:txBody>
      </p:sp>
    </p:spTree>
    <p:extLst>
      <p:ext uri="{BB962C8B-B14F-4D97-AF65-F5344CB8AC3E}">
        <p14:creationId xmlns:p14="http://schemas.microsoft.com/office/powerpoint/2010/main" val="2468696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0B89-9A20-6146-A059-04ADFE6C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B9988-41CD-C78C-4F7F-2A765A1C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F5F181-B3C0-03F2-92B5-A20FA84FE2AB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Assignment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0217C7-A577-945B-B13D-58212BABF9CE}"/>
              </a:ext>
            </a:extLst>
          </p:cNvPr>
          <p:cNvSpPr/>
          <p:nvPr/>
        </p:nvSpPr>
        <p:spPr>
          <a:xfrm>
            <a:off x="4488873" y="1582883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Compare Algorithms</a:t>
            </a:r>
          </a:p>
          <a:p>
            <a:r>
              <a:rPr lang="en-US" sz="2800" dirty="0">
                <a:solidFill>
                  <a:schemeClr val="tx1"/>
                </a:solidFill>
              </a:rPr>
              <a:t>Compare two sorting algorithms (e.g., Bubble Sort vs. Quick Sort) in terms of time and space complexity.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2. Real-World Efficiency Case Study</a:t>
            </a:r>
          </a:p>
          <a:p>
            <a:r>
              <a:rPr lang="en-US" sz="2800" dirty="0">
                <a:solidFill>
                  <a:schemeClr val="tx1"/>
                </a:solidFill>
              </a:rPr>
              <a:t>Research how Google Search optimizes for time complexity when returning results in milliseconds.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529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A715-F58C-FAD8-E632-3A86E35D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2FCE3-7BC2-7370-2A0A-C3DF7B0B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0F6C2F-AEFD-7031-FE38-D37B35E4C6B4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Assignment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240B20-3536-0A06-6BD5-C8F18F6C2876}"/>
              </a:ext>
            </a:extLst>
          </p:cNvPr>
          <p:cNvSpPr/>
          <p:nvPr/>
        </p:nvSpPr>
        <p:spPr>
          <a:xfrm>
            <a:off x="4488873" y="162098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3. Space-Time Tradeoff Report</a:t>
            </a:r>
          </a:p>
          <a:p>
            <a:r>
              <a:rPr lang="en-US" sz="2800" dirty="0">
                <a:solidFill>
                  <a:schemeClr val="tx1"/>
                </a:solidFill>
              </a:rPr>
              <a:t>Write a report explaining a scenario where an algorithm uses more memory to be faster (e.g., caching in web browsers or databases).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915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682F-CCF0-C5AE-B402-27BE264F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5BED67-3F70-AB6F-6B38-93B7BAFCF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5C5142-3528-736E-CA46-AB9055A03D98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References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F656A-48C0-FCFF-328A-1D3E861665E1}"/>
              </a:ext>
            </a:extLst>
          </p:cNvPr>
          <p:cNvSpPr/>
          <p:nvPr/>
        </p:nvSpPr>
        <p:spPr>
          <a:xfrm>
            <a:off x="4488873" y="162098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Knuth, D. E. (2020). The Art of Computer Programming. Addison-Wesley.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err="1">
                <a:solidFill>
                  <a:schemeClr val="tx1"/>
                </a:solidFill>
              </a:rPr>
              <a:t>Cormen</a:t>
            </a:r>
            <a:r>
              <a:rPr lang="en-US" sz="2800" dirty="0">
                <a:solidFill>
                  <a:schemeClr val="tx1"/>
                </a:solidFill>
              </a:rPr>
              <a:t>, T. H., </a:t>
            </a:r>
            <a:r>
              <a:rPr lang="en-US" sz="2800" dirty="0" err="1">
                <a:solidFill>
                  <a:schemeClr val="tx1"/>
                </a:solidFill>
              </a:rPr>
              <a:t>Leiserson</a:t>
            </a:r>
            <a:r>
              <a:rPr lang="en-US" sz="2800" dirty="0">
                <a:solidFill>
                  <a:schemeClr val="tx1"/>
                </a:solidFill>
              </a:rPr>
              <a:t>, C. E., Rivest, R. L., &amp; Stein, C. (2022). Introduction to Algorithms (4th ed.). MIT Press.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Grokking Algorithms: Bhargava, A. (2021). Grokking Algorithms: An illustrated guide. Manning Publications.</a:t>
            </a:r>
          </a:p>
        </p:txBody>
      </p:sp>
    </p:spTree>
    <p:extLst>
      <p:ext uri="{BB962C8B-B14F-4D97-AF65-F5344CB8AC3E}">
        <p14:creationId xmlns:p14="http://schemas.microsoft.com/office/powerpoint/2010/main" val="3724533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A9FC-87E0-21D1-B563-0D1BE1D2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CF3B3C-2348-EF29-A433-4EF717D2C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88B9F0-7942-E872-5FDD-E6548C8FDFF4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References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BD156F-A284-CFB9-61AE-F842E9586991}"/>
              </a:ext>
            </a:extLst>
          </p:cNvPr>
          <p:cNvSpPr/>
          <p:nvPr/>
        </p:nvSpPr>
        <p:spPr>
          <a:xfrm>
            <a:off x="4488873" y="162098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Russell, S., &amp; Norvig, P. (2021). Artificial Intelligence: A Modern Approach. Pearson Education.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err="1">
                <a:solidFill>
                  <a:schemeClr val="tx1"/>
                </a:solidFill>
              </a:rPr>
              <a:t>GeeksforGeeks</a:t>
            </a:r>
            <a:r>
              <a:rPr lang="en-US" sz="2800" dirty="0">
                <a:solidFill>
                  <a:schemeClr val="tx1"/>
                </a:solidFill>
              </a:rPr>
              <a:t>. (2023). Algorithm Characteristics and Examples. https://www.geeksforgeeks.org/fundamentals-of-algorithms/</a:t>
            </a:r>
          </a:p>
        </p:txBody>
      </p:sp>
    </p:spTree>
    <p:extLst>
      <p:ext uri="{BB962C8B-B14F-4D97-AF65-F5344CB8AC3E}">
        <p14:creationId xmlns:p14="http://schemas.microsoft.com/office/powerpoint/2010/main" val="509450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026F-EDA4-29C4-80CE-6FE26CA8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6596F9-2E0C-C2E5-B684-014485977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12324E-A893-C63A-74E5-8054E083C831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References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0A47FB-4FA9-C395-4848-DDCE31734C2A}"/>
              </a:ext>
            </a:extLst>
          </p:cNvPr>
          <p:cNvSpPr/>
          <p:nvPr/>
        </p:nvSpPr>
        <p:spPr>
          <a:xfrm>
            <a:off x="4488873" y="162098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</a:rPr>
              <a:t>Cormen</a:t>
            </a:r>
            <a:r>
              <a:rPr lang="en-US" sz="2800" dirty="0">
                <a:solidFill>
                  <a:schemeClr val="tx1"/>
                </a:solidFill>
              </a:rPr>
              <a:t>, T. H., </a:t>
            </a:r>
            <a:r>
              <a:rPr lang="en-US" sz="2800" dirty="0" err="1">
                <a:solidFill>
                  <a:schemeClr val="tx1"/>
                </a:solidFill>
              </a:rPr>
              <a:t>Leiserson</a:t>
            </a:r>
            <a:r>
              <a:rPr lang="en-US" sz="2800" dirty="0">
                <a:solidFill>
                  <a:schemeClr val="tx1"/>
                </a:solidFill>
              </a:rPr>
              <a:t>, C. E., Rivest, R. L., &amp; Stein, C. (2022). Introduction to Algorithms (4th ed.). MIT Press.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Grokking Algorithms: Bhargava, A. (2021). An illustrated guide for programmers and curious learners. Manning Publications.</a:t>
            </a:r>
          </a:p>
        </p:txBody>
      </p:sp>
    </p:spTree>
    <p:extLst>
      <p:ext uri="{BB962C8B-B14F-4D97-AF65-F5344CB8AC3E}">
        <p14:creationId xmlns:p14="http://schemas.microsoft.com/office/powerpoint/2010/main" val="48800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5F30-87F8-1EE1-15A8-0243A47B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327670-6236-3072-824B-AAEEF8E9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7B7949-34E0-5E2D-AF81-B32FD2A9A27D}"/>
              </a:ext>
            </a:extLst>
          </p:cNvPr>
          <p:cNvSpPr/>
          <p:nvPr/>
        </p:nvSpPr>
        <p:spPr>
          <a:xfrm>
            <a:off x="4488873" y="325582"/>
            <a:ext cx="7335982" cy="1007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References</a:t>
            </a:r>
            <a:endParaRPr lang="en-PH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049A93-6562-9105-5543-DF7758F3F3DB}"/>
              </a:ext>
            </a:extLst>
          </p:cNvPr>
          <p:cNvSpPr/>
          <p:nvPr/>
        </p:nvSpPr>
        <p:spPr>
          <a:xfrm>
            <a:off x="4488873" y="1620982"/>
            <a:ext cx="7335982" cy="49495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</a:rPr>
              <a:t>GeeksforGeeks</a:t>
            </a:r>
            <a:r>
              <a:rPr lang="en-US" sz="2800" dirty="0">
                <a:solidFill>
                  <a:schemeClr val="tx1"/>
                </a:solidFill>
              </a:rPr>
              <a:t> (2023). Time and Space Complexity in Algorithms. </a:t>
            </a:r>
            <a:r>
              <a:rPr lang="en-US" sz="2800" dirty="0">
                <a:solidFill>
                  <a:schemeClr val="tx1"/>
                </a:solidFill>
                <a:hlinkClick r:id="rId3"/>
              </a:rPr>
              <a:t>https://www.geeksforgeeks.org/complexity-analysis-of-algorithms/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Khan Academy (2022). Algorithm Analysis. https://www.khanacademy.org/computing/computer-science/algorithms</a:t>
            </a:r>
          </a:p>
        </p:txBody>
      </p:sp>
    </p:spTree>
    <p:extLst>
      <p:ext uri="{BB962C8B-B14F-4D97-AF65-F5344CB8AC3E}">
        <p14:creationId xmlns:p14="http://schemas.microsoft.com/office/powerpoint/2010/main" val="1958189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B8E2-EE6D-4DAA-ACB6-60BD5764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FF1A9E-076E-47C9-057A-1764207A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F7D970-A4D1-A4BE-6FC2-FA40604A3CE0}"/>
              </a:ext>
            </a:extLst>
          </p:cNvPr>
          <p:cNvSpPr/>
          <p:nvPr/>
        </p:nvSpPr>
        <p:spPr>
          <a:xfrm>
            <a:off x="4540828" y="1061604"/>
            <a:ext cx="7335982" cy="47347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 VERY MUCH!</a:t>
            </a:r>
          </a:p>
          <a:p>
            <a:pPr algn="ctr"/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Presented by: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MS. MARIE CELIA R. AGLIBOT</a:t>
            </a:r>
          </a:p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INSTRUCTOR III </a:t>
            </a:r>
            <a:endParaRPr lang="en-PH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392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1436</Words>
  <Application>Microsoft Office PowerPoint</Application>
  <PresentationFormat>Widescreen</PresentationFormat>
  <Paragraphs>205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Icel.41reyesaglibot@gmail.com</dc:creator>
  <cp:lastModifiedBy>Icel.41reyesaglibot@gmail.com</cp:lastModifiedBy>
  <cp:revision>51</cp:revision>
  <dcterms:created xsi:type="dcterms:W3CDTF">2025-07-22T03:25:09Z</dcterms:created>
  <dcterms:modified xsi:type="dcterms:W3CDTF">2025-08-04T01:44:05Z</dcterms:modified>
</cp:coreProperties>
</file>